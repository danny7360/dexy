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79a20c0b584e6c" /><Relationship Type="http://schemas.openxmlformats.org/officeDocument/2006/relationships/extended-properties" Target="/docProps/app.xml" Id="Re49b1f6c05784dc5" /><Relationship Type="http://schemas.openxmlformats.org/officeDocument/2006/relationships/officeDocument" Target="/ppt/presentation.xml" Id="Ra23238b4122f40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8e6bd5901e4e1f"/>
  </p:sldMasterIdLst>
  <p:notesMasterIdLst>
    <p:notesMasterId xmlns:r="http://schemas.openxmlformats.org/officeDocument/2006/relationships" r:id="R62786a3a63fd4a02"/>
  </p:notesMasterIdLst>
  <p:sldIdLst>
    <p:sldId xmlns:r="http://schemas.openxmlformats.org/officeDocument/2006/relationships" id="256" r:id="Rf83182d5af264767"/>
    <p:sldId xmlns:r="http://schemas.openxmlformats.org/officeDocument/2006/relationships" id="257" r:id="R5cfb3bf710d24ae4"/>
    <p:sldId xmlns:r="http://schemas.openxmlformats.org/officeDocument/2006/relationships" id="258" r:id="Rc437432e3ef84649"/>
    <p:sldId xmlns:r="http://schemas.openxmlformats.org/officeDocument/2006/relationships" id="259" r:id="Rd2fd8bd346954e91"/>
    <p:sldId xmlns:r="http://schemas.openxmlformats.org/officeDocument/2006/relationships" id="260" r:id="Rce5ac73c703845f5"/>
    <p:sldId xmlns:r="http://schemas.openxmlformats.org/officeDocument/2006/relationships" id="261" r:id="R4995b98c8985459f"/>
    <p:sldId xmlns:r="http://schemas.openxmlformats.org/officeDocument/2006/relationships" id="262" r:id="R4a97793a5ddf4260"/>
    <p:sldId xmlns:r="http://schemas.openxmlformats.org/officeDocument/2006/relationships" id="263" r:id="Re2299d1e3e214e86"/>
    <p:sldId xmlns:r="http://schemas.openxmlformats.org/officeDocument/2006/relationships" id="264" r:id="R6b0d28c679fa4275"/>
    <p:sldId xmlns:r="http://schemas.openxmlformats.org/officeDocument/2006/relationships" id="265" r:id="Rdf21dc65784741ce"/>
    <p:sldId xmlns:r="http://schemas.openxmlformats.org/officeDocument/2006/relationships" id="266" r:id="R4b25c68f146f4a0f"/>
    <p:sldId xmlns:r="http://schemas.openxmlformats.org/officeDocument/2006/relationships" id="267" r:id="R80398310380b40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e6bd5901e4e1f" /><Relationship Type="http://schemas.openxmlformats.org/officeDocument/2006/relationships/theme" Target="/ppt/theme/theme1.xml" Id="R59a634d120674574" /><Relationship Type="http://schemas.openxmlformats.org/officeDocument/2006/relationships/notesMaster" Target="/ppt/notesMasters/notesMaster1.xml" Id="R62786a3a63fd4a02" /><Relationship Type="http://schemas.openxmlformats.org/officeDocument/2006/relationships/presProps" Target="/ppt/presProps.xml" Id="R0f0448cdac344223" /><Relationship Type="http://schemas.openxmlformats.org/officeDocument/2006/relationships/viewProps" Target="/ppt/viewProps.xml" Id="Rbdbf9944acde4bbf" /><Relationship Type="http://schemas.openxmlformats.org/officeDocument/2006/relationships/tableStyles" Target="/ppt/tableStyles.xml" Id="R88242b9f40b34235" /><Relationship Type="http://schemas.openxmlformats.org/officeDocument/2006/relationships/slide" Target="/ppt/slides/slide1.xml" Id="Rf83182d5af264767" /><Relationship Type="http://schemas.openxmlformats.org/officeDocument/2006/relationships/slide" Target="/ppt/slides/slide2.xml" Id="R5cfb3bf710d24ae4" /><Relationship Type="http://schemas.openxmlformats.org/officeDocument/2006/relationships/slide" Target="/ppt/slides/slide3.xml" Id="Rc437432e3ef84649" /><Relationship Type="http://schemas.openxmlformats.org/officeDocument/2006/relationships/slide" Target="/ppt/slides/slide4.xml" Id="Rd2fd8bd346954e91" /><Relationship Type="http://schemas.openxmlformats.org/officeDocument/2006/relationships/slide" Target="/ppt/slides/slide5.xml" Id="Rce5ac73c703845f5" /><Relationship Type="http://schemas.openxmlformats.org/officeDocument/2006/relationships/slide" Target="/ppt/slides/slide6.xml" Id="R4995b98c8985459f" /><Relationship Type="http://schemas.openxmlformats.org/officeDocument/2006/relationships/slide" Target="/ppt/slides/slide7.xml" Id="R4a97793a5ddf4260" /><Relationship Type="http://schemas.openxmlformats.org/officeDocument/2006/relationships/slide" Target="/ppt/slides/slide8.xml" Id="Re2299d1e3e214e86" /><Relationship Type="http://schemas.openxmlformats.org/officeDocument/2006/relationships/slide" Target="/ppt/slides/slide9.xml" Id="R6b0d28c679fa4275" /><Relationship Type="http://schemas.openxmlformats.org/officeDocument/2006/relationships/slide" Target="/ppt/slides/slide10.xml" Id="Rdf21dc65784741ce" /><Relationship Type="http://schemas.openxmlformats.org/officeDocument/2006/relationships/slide" Target="/ppt/slides/slide11.xml" Id="R4b25c68f146f4a0f" /><Relationship Type="http://schemas.openxmlformats.org/officeDocument/2006/relationships/slide" Target="/ppt/slides/slide12.xml" Id="R80398310380b40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9e771d1e31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5e38334a742e0" /><Relationship Type="http://schemas.openxmlformats.org/officeDocument/2006/relationships/notesMaster" Target="/ppt/notesMasters/notesMaster1.xml" Id="R958424318eeb40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47e4cbcd840ec" /><Relationship Type="http://schemas.openxmlformats.org/officeDocument/2006/relationships/notesMaster" Target="/ppt/notesMasters/notesMaster1.xml" Id="Rb863dccc38f1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a15210e564d81" /><Relationship Type="http://schemas.openxmlformats.org/officeDocument/2006/relationships/notesMaster" Target="/ppt/notesMasters/notesMaster1.xml" Id="R2e6ee272ec8a46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8240ab48b2423f" /><Relationship Type="http://schemas.openxmlformats.org/officeDocument/2006/relationships/notesMaster" Target="/ppt/notesMasters/notesMaster1.xml" Id="R4dbaf0a2951846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2731845eb24283" /><Relationship Type="http://schemas.openxmlformats.org/officeDocument/2006/relationships/notesMaster" Target="/ppt/notesMasters/notesMaster1.xml" Id="R71a1fd39909742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4a9c16925947ea" /><Relationship Type="http://schemas.openxmlformats.org/officeDocument/2006/relationships/notesMaster" Target="/ppt/notesMasters/notesMaster1.xml" Id="R1d26a0c86c9a49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8de0b7a7374251" /><Relationship Type="http://schemas.openxmlformats.org/officeDocument/2006/relationships/notesMaster" Target="/ppt/notesMasters/notesMaster1.xml" Id="R659da22d5b5448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68a0f55184f54" /><Relationship Type="http://schemas.openxmlformats.org/officeDocument/2006/relationships/notesMaster" Target="/ppt/notesMasters/notesMaster1.xml" Id="Rd0dbc775a1fb41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17a96a47014ab1" /><Relationship Type="http://schemas.openxmlformats.org/officeDocument/2006/relationships/notesMaster" Target="/ppt/notesMasters/notesMaster1.xml" Id="Rba722023517b4c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54a6446096482d" /><Relationship Type="http://schemas.openxmlformats.org/officeDocument/2006/relationships/notesMaster" Target="/ppt/notesMasters/notesMaster1.xml" Id="R2c22b251a68e4d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aee75e1f4d4c2a" /><Relationship Type="http://schemas.openxmlformats.org/officeDocument/2006/relationships/notesMaster" Target="/ppt/notesMasters/notesMaster1.xml" Id="R83b862ebbaa543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bdf7dbfdc74bdc" /><Relationship Type="http://schemas.openxmlformats.org/officeDocument/2006/relationships/notesMaster" Target="/ppt/notesMasters/notesMaster1.xml" Id="R09e189f4052e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framing: this is not another alpha product. Dexy is for operators who already trade, but still lack a clean control layer for risk, attribution, and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core point explicit: the wedge is not signal discovery. It is operator visibility and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market-structure slide, not a TAM slide. Emphasize density and timing over false precision.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product-definition slide. Keep it crisp and avoid drifting into generic AI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Narrate this as a workflow compression story. The user does not buy more data. They buy less confusion and better action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anti-ICP explicit. This helps investors trust that the wedge is disciplined.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product is not a content product. It is a repeated workflow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slide as floor vs ceiling logic. Do not oversell phase 3 as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hidden competitor is user self-assembly: native UI + dashboards + Telegram + spreadsheets.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investors feel the wedge. It should feel concrete and operator-real, not abstract.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make the discipline visible. No broad platform ambition too 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ask disciplined: this is milestone capital to prove the wedge, not narrative capital to pretend the whole platform already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Dexy internal strategy synthesis based on founder research, X-source appendix, and public pricing/product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25d9663a44b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6800927-11B3-46EA-9829-0EE245F5CC6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433FF9-E7F7-4F21-8A21-478CE7C6F09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0068D5-EEA9-4705-B2B3-89870D1F384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83AE38C-D025-4466-B71B-4FF48FDC5BD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314ae73d3a40b6" /><Relationship Type="http://schemas.openxmlformats.org/officeDocument/2006/relationships/slideLayout" Target="/ppt/slideLayouts/slideLayout2.xml" Id="Re7634c8c102c4f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E7DAED-5702-455F-BADF-1B077B6527E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34c8c102c4f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e33a2906814f58" /><Relationship Type="http://schemas.openxmlformats.org/officeDocument/2006/relationships/image" Target="/ppt/media/image.png" Id="R492cb2886f2340d5" /><Relationship Type="http://schemas.openxmlformats.org/officeDocument/2006/relationships/notesSlide" Target="/ppt/notesSlides/notesSlide1.xml" Id="R5d7055f4864245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cd06b22b0410f" /><Relationship Type="http://schemas.openxmlformats.org/officeDocument/2006/relationships/image" Target="/ppt/media/image2.png" Id="R87d49a72dad64b93" /><Relationship Type="http://schemas.openxmlformats.org/officeDocument/2006/relationships/notesSlide" Target="/ppt/notesSlides/notesSlide2.xml" Id="Rcbc4b785c71046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2980037ba4e41" /><Relationship Type="http://schemas.openxmlformats.org/officeDocument/2006/relationships/image" Target="/ppt/media/image3.png" Id="R192ec9ce533f4188" /><Relationship Type="http://schemas.openxmlformats.org/officeDocument/2006/relationships/notesSlide" Target="/ppt/notesSlides/notesSlide3.xml" Id="R50df5f09e1764a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a4e65e4004968" /><Relationship Type="http://schemas.openxmlformats.org/officeDocument/2006/relationships/image" Target="/ppt/media/image4.png" Id="Rcc3bd42ab9f7472d" /><Relationship Type="http://schemas.openxmlformats.org/officeDocument/2006/relationships/notesSlide" Target="/ppt/notesSlides/notesSlide4.xml" Id="Reded6352ee33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8e696956a9438e" /><Relationship Type="http://schemas.openxmlformats.org/officeDocument/2006/relationships/image" Target="/ppt/media/image5.png" Id="R34133c4e86824c6c" /><Relationship Type="http://schemas.openxmlformats.org/officeDocument/2006/relationships/notesSlide" Target="/ppt/notesSlides/notesSlide5.xml" Id="Rfdc92f42d12749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721e71e464d11" /><Relationship Type="http://schemas.openxmlformats.org/officeDocument/2006/relationships/image" Target="/ppt/media/image6.png" Id="R2a9afd6f8b9a4d1a" /><Relationship Type="http://schemas.openxmlformats.org/officeDocument/2006/relationships/notesSlide" Target="/ppt/notesSlides/notesSlide6.xml" Id="Ra18d1dae081c4f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dec987bdd4058" /><Relationship Type="http://schemas.openxmlformats.org/officeDocument/2006/relationships/image" Target="/ppt/media/image7.png" Id="R3c9f325eddf94c58" /><Relationship Type="http://schemas.openxmlformats.org/officeDocument/2006/relationships/notesSlide" Target="/ppt/notesSlides/notesSlide7.xml" Id="Rbb45b740793f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1ce7a44e34f75" /><Relationship Type="http://schemas.openxmlformats.org/officeDocument/2006/relationships/image" Target="/ppt/media/image8.png" Id="Reca0aa0350f14ec6" /><Relationship Type="http://schemas.openxmlformats.org/officeDocument/2006/relationships/notesSlide" Target="/ppt/notesSlides/notesSlide8.xml" Id="R29208533670a4a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3262c912d4fa4" /><Relationship Type="http://schemas.openxmlformats.org/officeDocument/2006/relationships/image" Target="/ppt/media/image9.png" Id="R4d24075750c4442e" /><Relationship Type="http://schemas.openxmlformats.org/officeDocument/2006/relationships/notesSlide" Target="/ppt/notesSlides/notesSlide9.xml" Id="R048df00ba6194d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6154671284912" /><Relationship Type="http://schemas.openxmlformats.org/officeDocument/2006/relationships/image" Target="/ppt/media/image10.png" Id="R7b2c9cf383d24af7" /><Relationship Type="http://schemas.openxmlformats.org/officeDocument/2006/relationships/notesSlide" Target="/ppt/notesSlides/notesSlide10.xml" Id="Rb56d4ee34b634d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360a74de684a0a" /><Relationship Type="http://schemas.openxmlformats.org/officeDocument/2006/relationships/image" Target="/ppt/media/image11.png" Id="R619c036fe8674461" /><Relationship Type="http://schemas.openxmlformats.org/officeDocument/2006/relationships/notesSlide" Target="/ppt/notesSlides/notesSlide11.xml" Id="R6d289d11f86e4b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ef0fa472f34474" /><Relationship Type="http://schemas.openxmlformats.org/officeDocument/2006/relationships/image" Target="/ppt/media/image12.png" Id="Re11e0041f4754a86" /><Relationship Type="http://schemas.openxmlformats.org/officeDocument/2006/relationships/notesSlide" Target="/ppt/notesSlides/notesSlide12.xml" Id="Re0b900b6be6549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cb2886f2340d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5AAB2-D3B0-4BD7-869C-FFB1D449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120B-5FC9-442C-8AD1-052B4B2F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E65E2-0B6C-4930-9CD4-0BC03E6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HYPERLIQUID OPERATOR INFRA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E3F06-FCF3-4782-8957-3D4A3FC0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Dexy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6FEE4-62AE-4590-9B19-E5DB298F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The risk attribution and event alert layer for Hyperliquid operators.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42518-FD45-4109-930F-1DDE3EA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6D05F-DB9E-42E7-9CD4-FEE2373F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See where risk is building. See where profit is leaking.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30386-D5DE-46B3-8076-B54CE1B2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29058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49a72dad64b9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B15D4-E634-4FC8-B671-98ED0D7A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C5B43-2268-4B30-A3F8-2777CE0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DF2F2-F222-4E61-885A-4566A276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510EC-9F2B-41AA-84C7-99C3207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8222E-4EE7-4399-B15B-46F1386D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68A4B-4A9A-4A1E-8BC2-06A6FD75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Traders are not dying from lack of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8DA0C-8558-4C52-9F6D-8AB9683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They are dying from lack of visibility into risk, drag, and explanation.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7476C-C1BE-4290-AEF2-E39C2D1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3AFAB-50CB-4D1C-8E55-4E167571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ECB29-59D0-428E-BBEF-74F53F2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71DB1-0749-4314-97A1-817341F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DFF96-9592-4DF5-96A0-562D305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0ABC3-AEFB-4196-BE84-4991F33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42E4D-C647-4D13-860F-BAD2923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Sudden death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FEA6E-0659-4367-AA23-08AD352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High leverage plus weak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monitoring. Users often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realize fragility too late.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E1DD7-EB76-49A9-970D-880F5749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9ACAD-D9D2-4775-8678-0CE31A3E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DA8BA-434E-4F6F-B94E-BC8E38DF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A064C-4191-4B5A-AD93-55C20A4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9BBC-EF39-4E42-AF91-E66BB03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7E893-8E45-4096-B39D-CEF3061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7FE57-F1B1-4B09-BBC1-95FF2AD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Slow bleed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B3AA4-0729-4E36-B396-A4A1E155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Funding, fees, and slippage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quietly eat profit even when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direction is right.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55B2B-7346-43D1-9DC6-4BFC216B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E1861-74EB-4FA6-9AA1-92ABC72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817AE4-2EF9-4376-A886-9ECC8C6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76C38-835C-4338-8FF5-1B732711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CA87B-3CF1-4986-9967-27D27F2E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E7A4E-5320-4CB0-93CE-8419CC55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E31C11-595B-4A3E-8326-F5AA5962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No post-trade truth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7EEFB5-EBB7-4A3E-8F40-C08363B3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Users see the result, but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not the reason behind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761CD-670F-498F-9198-282DD87A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91802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ec9ce533f418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BC985-1F1B-40EC-B106-5E9601AF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01859-6B7B-4339-87D9-20A3478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WHY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FF8FB-DBF6-4B28-AF79-575D346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DFA52-6663-4F91-9800-6BFE9E2E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90793-9E4E-4478-BD26-DB555B4C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CB23D-F8F1-42D4-97A1-C6B38A5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191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Hyperliquid created a dense new operator market.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5149-43AB-4DA9-91BA-2C47C020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One venue now concentrates enough active perp behavior, public observability, and tooling fragmentation to support a focused control-layer business.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A2629-AE52-426E-ACA3-CCA9C562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3FCB1-EFAC-4AD5-A3D4-1209267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69109-EE96-4C7A-A7C1-40B7802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Native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A1659-6604-40E6-8069-801CF271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Execution and the default trading surface.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59783-BDDD-45B5-BD92-CE24C08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39F00-2A69-41AC-B6C6-2F0DFA5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A64E4-BE6F-4C28-A690-76B03F7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Third-party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A503D-43E7-4CB8-A05A-DBB8F55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Dashboards, bots, and fragmented alerts.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B38DD-0844-4977-B461-0B05B07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FDDDB-E6D1-4883-A194-4F871FF9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F56B3-22EB-4703-A5A6-AC4A337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Manual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5DEB0-7CC5-41CD-B075-B023736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Telegram, sheets, and operator memory.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2A58A-5BBB-42EF-A766-0441D5D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005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1E5B3-171E-4494-907D-7E41A7C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A61D6-556E-4B60-8F72-F5677EB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BA7AD-8BF1-4409-80BD-D090586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Operator reality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2854A-9407-45EF-91E0-B82DD51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user does not lack information. The user lacks priority, compression, and explanation.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92B41-B4BC-4ACA-BB9C-7AA5650E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005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6C9BF-D20D-4378-B7D0-26507CD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952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A2513-0AA7-47DF-8A97-1DF087C2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76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BFAF1-829C-4002-999F-F9A93C8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05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Dexy control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F8BCC-D80D-4B47-85FC-616C209D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2571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Wallet-aware risk ranking.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Funding / fee attribution.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Event alerts.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One-line action priority.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5259D-5CD1-4A20-A35A-9879F3D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466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2CE72-F84B-4CA9-A705-CACC2A81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982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6F5B"/>
                </a:solidFill>
              </a:defRPr>
            </a:pPr>
            <a:r>
              <a:rPr sz="825" b="1">
                <a:solidFill>
                  <a:srgbClr val="E86F5B"/>
                </a:solidFill>
              </a:rPr>
              <a:t>Fragmented inputs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FA947-DB8D-4E51-A079-9C97EE59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48050"/>
            <a:ext cx="1485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428E2F-57A7-4E98-8D96-F2A2A69D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147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Compression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0A1D8-9BDA-4FB7-8751-F64EE7E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E333B-E644-4FF6-ABF7-91E8CD63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765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Action priority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20D275-789D-4A61-8877-8B44EB02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289883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bd42ab9f7472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FB508-A02E-49DF-A651-CB04176E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28996-6354-43D8-ADBB-90FEBA23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A8AD6-EA24-4F92-A2BC-A829BC11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BA963-5FF5-4B3C-833C-93771EB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C2563-9234-405B-BC2B-E41D10F0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ED533-00AB-45A4-9921-12A2E18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Dexy is the operator control layer.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A5C50-D713-4D8C-BC0E-6165261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It does not tell users what to buy. It tells them what is dangerous, what is leaking, and what to watch next.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F06E2-65CA-40EE-87AA-B71056A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5BE07-825D-495F-96DC-E25F67A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7A942-995E-4F79-8369-7FD942F2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DD4A7-6B2D-4A0F-870C-668F2231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937DC-3BC6-4267-A279-06771FC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0F6A2-638C-444C-90C3-E502D997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90DC4-4642-490B-A137-2B2E0358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Risk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58AF2-11FB-479E-A70D-6617E94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Rank the most dangerous open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positions using leverage,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margin mode, and liquidation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distance.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551FB-2E83-4C93-A63F-E7FE1AE7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A402C-BE97-4C38-B468-6556BE9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5C97A-AE1F-429F-ADA3-61DF88F5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3AB5D-CAB9-4E11-9B89-20509512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70FCA-B509-4BB0-8EB2-7135EF5F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2346B-B340-4220-956C-F1C19867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D00E9-DF9E-44E8-93F4-9201D741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Attribution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35B1E-669F-44BE-A22D-024CF4A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Break PnL into direction,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funding drag, fee drag,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execution drag.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EE8EA-C141-48B7-B043-D001EBF5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2F649-40C6-418B-9E86-F30629A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7A2EE-FC2B-42EB-8AA3-005E639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EE745-E4FD-46CE-B61B-37A369D6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EC9B6-1101-484F-9F5B-0707E07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B0C69D-0FEA-4656-AB03-D15AD6A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959BF-5164-4503-98CF-2945000E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Alert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6E709-9454-4362-B2DC-152DE003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Push event-prioritized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alerts before the user opens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dashboard.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4DDF0-8396-40C0-A35F-AF3D092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32954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33c4e86824c6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D97AC-5810-4CEA-9F91-D4B4C1F7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21DC3-109F-41A1-98B9-B200344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A5B99-56B4-4A0A-A233-C025FBB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2AE31-3452-458D-8EF5-F9B28D9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62434-925E-44A7-B74A-44457865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AA5B9-1C2F-4BF2-87FA-36ED5C5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191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From wallet state to action priority.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EEB58-3413-48A0-B182-4C6790D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Dexy turns fragmented public observability into one ranked operator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CBF01-7865-49CD-A594-883D408C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095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AAD08-5D50-4E98-9342-220D940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6DDC5-3CC8-4A90-919F-40AE8B0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Wallet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889F4-DBD5-444B-877D-2007326B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Read positions, leverage, margin mode, PnL, and funding.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55D25-2718-45F4-A0CE-6474C828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291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4B2D0-52AB-435C-8690-EABB965B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2095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A1CFC-A2B4-4307-B6CD-2B2215D5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D6D4D-EF5E-4D3A-A6E7-C186F34C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57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Risk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15A42-1C06-443F-A881-B32955BA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Find the most dangerous open position.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94D29-B551-4C29-9BA1-2BD04476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005CE-33C4-4134-A5DF-893EABB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095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41E0E-6C98-41DE-9999-59FAB2F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2E676-E230-4F0A-9269-0EED5780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Attribution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D7F3D-1E63-465A-AAC1-1F74D2D0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Detect where drag or loss is coming from.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6B429-4667-4C3A-9010-0F91A99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E6324-D535-4980-B71B-5F49B1A6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095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3F28E-A61B-4EC8-A02F-D0762A3B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FA6A3-7BCA-4032-A1D3-A3DD715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57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Alert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7553C-5157-4E1F-BA6B-AEB34FD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Tell the user what to watch first and why.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6D7CD-1B03-4206-8AC1-AFDC223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0560C-2A18-41A0-9A53-DED46AE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7662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Workflow compression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573CF3-66F9-48B2-9DC6-2EBDFC04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538263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afd6f8b9a4d1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257A4-5D1C-48F9-BABE-C49CA944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8240-767B-4A46-9CBA-3CF3ABCA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6E347-5D80-4BC7-B2AB-A5A95F5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E70FD-79D8-482D-8533-491C1095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318A3-AC77-4F5F-AD10-04B5D500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E880D-15A5-4CB4-903A-337A8380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Human operators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AE6CB-01E5-4FAD-9B1A-3F19370E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Dexy starts with the users most likely to pay for visibility before it expands into machine rails.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95B63-0A64-4276-9E09-BE8E5D3C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1214F-2E63-4759-8448-DEF5DA97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48085-054C-42E3-9CB0-A0670CFD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Primary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0E826-DF5E-44CC-833C-27497112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Active HL traders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B8AC8-884B-4A8F-B6FD-F0399A10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Users with recurring exposure and repeated monitoring burden.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9C6E1-30B7-4333-BE7A-37D2F88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AAEC1-AF9D-4D44-B866-375644F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D8A2C-3413-48DE-82B2-D6DB9CC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Secondary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149E4-2BDC-4DE8-A268-D502FB33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Strategy operators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4AB43-1B24-43BA-8F8E-FE3A3F8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Small teams or bot runners without a fully productized internal risk stack.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E43D9-696F-4A38-8328-082F2EF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70D86-47D7-46B3-B7CC-DAFAF3C5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5A529-24CE-4407-B4C7-55367839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Not yet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3EB9C-3AF3-494D-93BD-CDF7D148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Autonomous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C837B-99D8-4CF6-9F59-CBE4470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Machine-native payments and agent usage are phase two, not the starting buyer.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A3E1C-C7A8-45C7-9379-CFE8D647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903198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f325eddf94c5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100BB-632C-4D83-8A27-66704F9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FEA8-3847-4DB3-8DCE-BE098B8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WHY THEY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7627D-7C04-4B13-9EE5-A00A1E35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8BD30-EC82-486A-9356-0F8F6094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E2DB5-8F3A-4572-8102-6D5E12C6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BE083-FCD3-45BD-9D72-0E54C32A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Dexy is not paid for intelligence. It is paid for fewer mistakes.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A6172-6CC3-4089-87AC-DC3AC210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product earns the right to charge only if it changes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FAE75-0B19-4A5F-AEB8-5826C2D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8547A-8593-44CA-BC27-32CBD51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897B6-F0AF-448D-BD31-74EC8B0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6AF6D-9DD2-41DC-9D85-CFC05014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06781-DEAD-434F-A88A-1F236F3E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E001A-3817-45A5-896C-099D49E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D8667-8E49-411E-816D-ABE97FE5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Catch danger earlier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17EF7-0010-402C-BDC9-10A422B5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Show which position 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becoming fragile before risk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becomes obvious.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A07C4-E9DC-44A7-85FC-3D479D7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7AFD7-1F67-4910-BF70-3960DDD5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F0B1E-3919-4E88-89EF-AE3480D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C6603-1BDB-46D9-A66C-FE31EE8A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60AF7-0390-4969-A179-85101FE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7E1AA-77DB-45BC-8B51-4047A8D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05FF3-F403-42F7-ABB8-6C092A4A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Explain leakage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89695-C2AB-4CCB-A3A0-933D45E2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Show when profit disappears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through funding, fees, 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execution.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2F291-4F85-43EA-BD7D-25DE6B3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F9925-7E4C-4CD0-B448-D821DEA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4C0D7-61EF-4005-998C-AC16EF6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91997-F66F-40C8-8358-D5076313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C438D-7027-4015-A995-09643637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47EBBC-E926-4FE0-99EC-EB9A267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3D3AB6-F9AA-4975-8C66-0869572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Reduce monitoring overhead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04144-646A-45CE-973A-F602DDD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Replace repeated wallet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checking with prioritized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alerts and summaries.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8736FF-637F-440D-937A-2E65BC77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223338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0aa0350f14ec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7D471-34A0-4694-84D5-139F7E82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2D6A2-7240-4367-A7EB-AE5D77A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FD61E-C1D4-4097-8E18-851AC0E1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CFCA8-05CA-4F63-86AA-5FCE8949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109F5-3661-4E1E-AE23-490F43B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72C93-0971-4A40-BF2B-E56A2430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Start as operator SaaS. Expand into workflow and machine rails.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3CEC6-FD3E-4A6C-847B-51CF61D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floor is subscription. The ceiling rises when Dexy becomes part of workflow, API, and eventually machine usage.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04F38-AF10-4505-BC63-65FDAFCF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3F67F-9A86-455D-86EA-AE2F7668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98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Commercial floor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12313-C5D4-455C-B9F6-6083D002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88C7C-0CA2-4086-9927-BF199B1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098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Expansion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8B96B-9DEF-40BF-8AEE-645ABB25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A5482-0B08-4E55-9010-33FED03B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98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Commercial ceiling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EBF12-3DA8-4DB8-A109-2B6EA84F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667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237A4-5EF2-4EC8-9DE1-2D62209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F569D-ADCB-4569-9928-934852B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1: Subscription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E12EC-6CCF-446F-A931-C90B1DC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Human-first plans for alerts, attribution, and wallet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This is the realistic floor.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C7D2A-E64D-4B9C-95C0-C4736D95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F620E-6889-47DA-B966-F555180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857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5DE1C-57D6-4D7D-BC19-1BBEC2A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9400E-A612-4B58-88E5-8D4B629F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2: API / 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51722-FA28-40CB-83A7-58FD0CDB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Deeper workflow usage through webhooks, integrations, and machine-readable outputs.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ACCCE-3E3C-4919-9164-A1CB44F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E8A79-21CB-4A40-83E7-366C89A4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762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BE39B-0B64-4ED7-B39C-A8A331A9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DF31C-5C20-4DBD-84DB-0E9EF63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Phase 3: Machine rails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702AB-DD15-4AD1-BDF0-30D2726B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x402 and machine-native usage later.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Potential flow-linked revenue only after workflow proof.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FA2AD-F10B-4429-807B-8576113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55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4"/>
                </a:solidFill>
              </a:defRPr>
            </a:pPr>
            <a:r>
              <a:rPr sz="1500" b="0">
                <a:solidFill>
                  <a:srgbClr val="101214"/>
                </a:solidFill>
              </a:rPr>
              <a:t>Dexy starts as operator SaaS, not as a speculative agent economy product.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7E60F-2939-4EED-B3C7-35E039DE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66713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4075750c4442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93971-BEB9-43D4-ABCB-D822D87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C25B1-1799-45EB-8D22-7822EC16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COMPETITION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2CA75-F4B5-4120-ACAE-FBBB3EC1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71D32-F925-467D-BE51-0FDEC066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AB8B2-9D68-49AE-BDC5-FD21FD6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3F66B-0CA7-44A6-9AB6-EF6B97A2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763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The market is fragmented, but the wedge is still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CCCD0-A1BD-4756-B456-67F73337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Dexy sits between generic analytics and execution products: wallet-specific, attribution-first, and alert-first.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659C8-2BC1-428B-AADE-62AA841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BE68E-5E51-4098-8E72-00B6985C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0C934-9908-4907-88A9-0A03C94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</a:defRPr>
            </a:pPr>
            <a:r>
              <a:rPr sz="825" b="0">
                <a:solidFill>
                  <a:srgbClr val="687076"/>
                </a:solidFill>
              </a:rPr>
              <a:t>Generic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3EE18-37A4-43E7-83B2-2081F54D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578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</a:defRPr>
            </a:pPr>
            <a:r>
              <a:rPr sz="825" b="0">
                <a:solidFill>
                  <a:srgbClr val="687076"/>
                </a:solidFill>
              </a:rPr>
              <a:t>Workflow native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DAC45-0353-44A5-B76C-5109E4E3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</a:defRPr>
            </a:pPr>
            <a:r>
              <a:rPr sz="825" b="0">
                <a:solidFill>
                  <a:srgbClr val="687076"/>
                </a:solidFill>
              </a:rPr>
              <a:t>Broad 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5061B-9032-48ED-A59E-EC7C3518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</a:defRPr>
            </a:pPr>
            <a:r>
              <a:rPr sz="825" b="0">
                <a:solidFill>
                  <a:srgbClr val="687076"/>
                </a:solidFill>
              </a:rPr>
              <a:t>Wallet-specific depth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87102-9C10-4A5E-9538-765F6D73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5995E-F685-430B-9B8B-2B77D10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85722-51C1-49B1-BE2B-F8FD1436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71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Nansen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83AB2-7F91-4248-A9AD-A8EE654A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95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Broad onchain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E58B5-CA25-4188-AF8A-F6E8A738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720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BE08F-CCC0-4AB8-B2DC-9DC048D3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72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C1A8A-DA20-486F-B252-D706A98D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CoinGlass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80DE3-4E82-4167-8CF6-6C665B4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67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Market-level risk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0C1D7-E122-4382-964F-9F57F26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AB9D9-29DA-4BAF-AF84-CFBAEC43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CC81D-F368-47C4-91CD-6FF2D2BD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86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HyperTracker / CMM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139E30-BBDF-40A6-A8F2-AE3B9DB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Paid HL analytics and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FC7E1-A3E3-476A-99F9-96A443F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7670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F57911-E800-4DD8-AC67-FFFA4C2A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767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0BFD5-BAF3-4639-A99F-4C4777F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48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Hyperdash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9610B-58E0-44FD-AD99-A912715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720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Workflow + 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96BE1-8330-4780-89FC-A4DC8F30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20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E812F-62B0-4C3F-B4BE-19E080F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2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054A97-27E6-4F12-AF3D-3FD4E3FA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43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Native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C2FC7-AAFD-4EB8-A805-DE08A37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67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Execution default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8F1C3-BB1D-4B35-94B2-B7815F2D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2286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6E572F-8E4F-4725-91A3-CAF5E188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D30665-570C-4C04-AECE-5EB6B601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Dexy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6483BD-5550-4A96-B2A6-6BFA9F4B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Wallet-specific,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attribution-first,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alert-first operator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537A3-5D76-4C7E-901E-CE9FCD8D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875826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c9cf383d24af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7D286-5049-48EE-954F-955F6886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41E0F-FF24-473D-A9F6-68426C7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403B2-6EFC-4A34-8AEE-E53958D9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6A01-2203-4FBD-8CFB-5620E9A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50A94-BCEB-422A-A03A-BE3C04E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DB2F2-8B0C-4208-B886-1F5F6A04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 dangerous SP500 short shows the problem clearly.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6BC4C-6C00-43B4-A5C4-1557323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This is the kind of wallet state Dexy should explain better than a raw dashboard.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7C98E-35C1-4C0E-9B31-1499B6A8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00A7E-A679-4CD1-86A2-3CD5EAA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7A677-917F-4B29-9A08-D948796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Observed wallet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A435C-5D27-4C2F-8690-48741018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SP500 short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Large notional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18x isolated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28.77x effective leverage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Negative funding burden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43% liquidation 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83FA0-848F-4BE9-B058-BDFD3C5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00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65705-8C0A-4ACE-A45B-86331E3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782A7-6150-4847-9554-0F2D21D1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A2515-9DB9-4789-951D-C475B9E0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What most tools show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11189-C37F-4C87-B3BC-C34F1A9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red PnL number and several raw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Useful, but still easy to misread under pressure.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805EF-C601-4221-BDEB-B34C9174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181DB-0B2C-41EC-8A36-0159903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2286000" cy="3276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6D057-DEA8-4711-80D3-062498B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762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2EBF6-F76D-4B0D-8C84-59FF1AF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What Dexy should say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B65FB-BF2F-4276-A713-92EDB838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This is not just a wrong directional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Funding and leverage are compounding the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highest-priority variable is liquidation distance.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F8D74-2323-4ACF-BB3D-7236D1A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70525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c036fe867446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51544-2504-4B35-82DC-5E33293F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7EE59-86C3-4A2E-A5F1-77E48C8D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B8B90-6725-4734-B7BA-CCD02D7F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82A78-F9A3-492B-B206-DE6CD56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08C7F-AB7F-4EBF-9D3D-8C23494F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7C8EE-550F-4760-AA19-7EDB27C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One wedge at a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3208E-3637-401D-BD5E-19550E4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roadmap is intentionally narrow at the start and only expands after repeated paid usage is proven.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52427-C4DD-4F22-91EE-BA0D5528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676EE-2696-4977-9927-43104C79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E64A1-C459-4183-A7CF-C0CA1FC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67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6E981-2BF2-43AA-9E38-3F610C27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889A2-1CB9-4E85-B8D8-3B410172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26E98-F8FE-4133-BDA8-5A2B01A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FA73F-AF22-40D6-96B6-CFF704B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0–3 months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4131-BA72-4FFF-A663-253D2D4E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Risk snapshots, funding and fee attribution, and Telegram alerts.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D378F-10DF-4341-96BA-6BCAE1A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ACAD9-D7B4-4723-B2E6-704A1A1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E023D-73CB-46D3-A227-CB98B2D6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3–6 months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5C982-7AC3-40CE-93CC-FB408D58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Replay, exports, richer attribution, and multi-wallet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F2E47-44BE-4656-AE15-0DCD45FD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E5431-4BE9-4626-A2A1-AF3CD713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F14BB-93E9-4D53-A25B-F788DE9E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6–12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B5293-8F05-455C-823E-5DB6A574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API, MCP, and machine rails only after the human wedge proves sticky.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30E0AD-86A6-48FE-98D6-6E96253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8003662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28F23-EB91-4FA3-95D6-72BDA0FC6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e0041f4754a8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60932-57CD-445B-8ABB-4B17E8E1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D441C-5608-4774-9008-7128195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RAISE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2AF1C-6D40-4639-B9E3-234C7F3A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98B43-39A2-4A13-A894-6754090B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9D1A3-3AA2-4382-BB1F-7F0B23C9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C4B19-AD4A-46D8-AEC1-2851D643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We are raising to prove a paid operator workflow wedge.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552BB-40D7-4C6D-87FA-4E090463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goal is not to fund a huge platform from day one. The goal is to prove repeated, paid usage of risk attribution and alerting on Hyperliquid.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18DEE-5021-45E1-962B-E1E89DF4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A489F-BFDC-4AF1-A956-06C52804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425BF-FD87-4C65-AEE1-A07B15A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Milestone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06A95-9CAE-4E53-9D8B-66B36BE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Repeated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ECF7D-F8B7-45B4-B805-432567D0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Users return because the workflow changes what they watch and 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47199-163C-4C0C-BA25-C9555175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921E0-AB02-4ACA-9E0B-A107559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9E869-13A3-4C30-82F5-40E77844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Milestone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B7657-D721-4729-9241-FAB5394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Paid wedge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66F2B-5E44-4546-B1B3-D3C55B5D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Users pay for risk and attribution, not just curiosity or signal.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53246-3019-4736-9A60-A28E484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C8AF4-5A6C-408E-9A76-23276B0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1DD68-FC4E-4376-A5FD-77811CE3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Milestone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DD55B-DE2D-459C-8054-48CF943C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Expansion option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FC82E0-6AC0-4A84-BE7D-CAB0E62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Only after workflow proof do we deepen into API, MCP, and machine rails.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D5A7E-91A3-4C51-983C-C9414CE3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27071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2026-04-22T03:46:50.9710000Z</dcterms:created>
  <dcterms:modified xsi:type="dcterms:W3CDTF">2026-04-22T03:46:50.9720000Z</dcterms:modified>
</coreProperties>
</file>